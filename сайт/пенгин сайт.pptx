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3" r:id="rId8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A354A-B64B-4135-90AF-964B62D2EAD9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527E3-984D-4967-9A30-05BE796CF2E7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7527E3-984D-4967-9A30-05BE796CF2E7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7527E3-984D-4967-9A30-05BE796CF2E7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7527E3-984D-4967-9A30-05BE796CF2E7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7527E3-984D-4967-9A30-05BE796CF2E7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7527E3-984D-4967-9A30-05BE796CF2E7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029B-4E39-41AD-ABBE-FF6814FFC0F2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C1D5-4FD4-4D02-B85D-45803B44F3B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029B-4E39-41AD-ABBE-FF6814FFC0F2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C1D5-4FD4-4D02-B85D-45803B44F3B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029B-4E39-41AD-ABBE-FF6814FFC0F2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C1D5-4FD4-4D02-B85D-45803B44F3B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029B-4E39-41AD-ABBE-FF6814FFC0F2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C1D5-4FD4-4D02-B85D-45803B44F3B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029B-4E39-41AD-ABBE-FF6814FFC0F2}" type="datetimeFigureOut">
              <a:rPr lang="ru-RU" smtClean="0"/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C1D5-4FD4-4D02-B85D-45803B44F3B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029B-4E39-41AD-ABBE-FF6814FFC0F2}" type="datetimeFigureOut">
              <a:rPr lang="ru-RU" smtClean="0"/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C1D5-4FD4-4D02-B85D-45803B44F3B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029B-4E39-41AD-ABBE-FF6814FFC0F2}" type="datetimeFigureOut">
              <a:rPr lang="ru-RU" smtClean="0"/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C1D5-4FD4-4D02-B85D-45803B44F3B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029B-4E39-41AD-ABBE-FF6814FFC0F2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C1D5-4FD4-4D02-B85D-45803B44F3B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029B-4E39-41AD-ABBE-FF6814FFC0F2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C1D5-4FD4-4D02-B85D-45803B44F3B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029B-4E39-41AD-ABBE-FF6814FFC0F2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C1D5-4FD4-4D02-B85D-45803B44F3B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3029B-4E39-41AD-ABBE-FF6814FFC0F2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CC1D5-4FD4-4D02-B85D-45803B44F3B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3029B-4E39-41AD-ABBE-FF6814FFC0F2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CC1D5-4FD4-4D02-B85D-45803B44F3B0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664149" y="1186173"/>
            <a:ext cx="6439279" cy="2800612"/>
          </a:xfrm>
        </p:spPr>
        <p:txBody>
          <a:bodyPr/>
          <a:lstStyle/>
          <a:p>
            <a:pPr algn="l"/>
            <a:r>
              <a:rPr lang="ru-RU" sz="66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Эндуро</a:t>
            </a:r>
            <a:endParaRPr lang="ru-RU" sz="6600" dirty="0">
              <a:solidFill>
                <a:schemeClr val="accent4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Параллелограмм 11"/>
          <p:cNvSpPr/>
          <p:nvPr/>
        </p:nvSpPr>
        <p:spPr>
          <a:xfrm>
            <a:off x="-237490" y="13970"/>
            <a:ext cx="4156363" cy="6858000"/>
          </a:xfrm>
          <a:prstGeom prst="parallelogram">
            <a:avLst>
              <a:gd name="adj" fmla="val 29541"/>
            </a:avLst>
          </a:prstGeom>
          <a:blipFill rotWithShape="1">
            <a:blip r:embed="rId1"/>
            <a:stretch>
              <a:fillRect/>
            </a:stretch>
          </a:blip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ый треугольник 12"/>
          <p:cNvSpPr/>
          <p:nvPr/>
        </p:nvSpPr>
        <p:spPr>
          <a:xfrm rot="16200000">
            <a:off x="10422577" y="5088575"/>
            <a:ext cx="2450275" cy="1088571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араллелограмм 13"/>
          <p:cNvSpPr/>
          <p:nvPr/>
        </p:nvSpPr>
        <p:spPr>
          <a:xfrm rot="960460">
            <a:off x="11132139" y="4969029"/>
            <a:ext cx="477664" cy="2173185"/>
          </a:xfrm>
          <a:prstGeom prst="parallelogram">
            <a:avLst>
              <a:gd name="adj" fmla="val 62375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Диагональная полоса 14"/>
          <p:cNvSpPr/>
          <p:nvPr/>
        </p:nvSpPr>
        <p:spPr>
          <a:xfrm rot="13480045">
            <a:off x="10610674" y="-737293"/>
            <a:ext cx="1475607" cy="1467932"/>
          </a:xfrm>
          <a:prstGeom prst="diagStripe">
            <a:avLst>
              <a:gd name="adj" fmla="val 82347"/>
            </a:avLst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7" name="Параллелограмм 16"/>
          <p:cNvSpPr/>
          <p:nvPr/>
        </p:nvSpPr>
        <p:spPr>
          <a:xfrm rot="20742782">
            <a:off x="2581009" y="484553"/>
            <a:ext cx="2264070" cy="4247062"/>
          </a:xfrm>
          <a:prstGeom prst="parallelogram">
            <a:avLst>
              <a:gd name="adj" fmla="val 87663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араллелограмм 17"/>
          <p:cNvSpPr/>
          <p:nvPr/>
        </p:nvSpPr>
        <p:spPr>
          <a:xfrm rot="20210037">
            <a:off x="2132821" y="3197074"/>
            <a:ext cx="2537681" cy="3309318"/>
          </a:xfrm>
          <a:prstGeom prst="parallelogram">
            <a:avLst>
              <a:gd name="adj" fmla="val 89495"/>
            </a:avLst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1757547" y="1269031"/>
            <a:ext cx="9191502" cy="606456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Цели:</a:t>
            </a:r>
            <a:endParaRPr lang="ru-RU" dirty="0">
              <a:solidFill>
                <a:schemeClr val="accent4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Объект 7"/>
          <p:cNvSpPr>
            <a:spLocks noGrp="1"/>
          </p:cNvSpPr>
          <p:nvPr>
            <p:ph sz="half" idx="1"/>
          </p:nvPr>
        </p:nvSpPr>
        <p:spPr>
          <a:xfrm>
            <a:off x="878774" y="4240321"/>
            <a:ext cx="5412298" cy="119617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2400" dirty="0">
              <a:latin typeface="Franklin Gothic Demi Cond" panose="020B0706030402020204" pitchFamily="34" charset="0"/>
            </a:endParaRPr>
          </a:p>
        </p:txBody>
      </p:sp>
      <p:sp>
        <p:nvSpPr>
          <p:cNvPr id="9" name="Объект 8"/>
          <p:cNvSpPr>
            <a:spLocks noGrp="1"/>
          </p:cNvSpPr>
          <p:nvPr>
            <p:ph sz="half" idx="2"/>
          </p:nvPr>
        </p:nvSpPr>
        <p:spPr>
          <a:xfrm>
            <a:off x="878774" y="2860181"/>
            <a:ext cx="5412298" cy="1149943"/>
          </a:xfrm>
        </p:spPr>
        <p:txBody>
          <a:bodyPr>
            <a:noAutofit/>
          </a:bodyPr>
          <a:lstStyle/>
          <a:p>
            <a:r>
              <a:rPr lang="ru-RU" sz="3600" dirty="0">
                <a:latin typeface="Franklin Gothic Demi Cond" panose="020B0706030402020204" pitchFamily="34" charset="0"/>
              </a:rPr>
              <a:t>Познакомить с таким видом как эндуро</a:t>
            </a:r>
            <a:endParaRPr lang="ru-RU" sz="3600" dirty="0">
              <a:latin typeface="Franklin Gothic Demi Cond" panose="020B0706030402020204" pitchFamily="34" charset="0"/>
            </a:endParaRPr>
          </a:p>
        </p:txBody>
      </p:sp>
      <p:sp>
        <p:nvSpPr>
          <p:cNvPr id="10" name="Прямоугольный треугольник 9"/>
          <p:cNvSpPr/>
          <p:nvPr/>
        </p:nvSpPr>
        <p:spPr>
          <a:xfrm rot="5400000">
            <a:off x="-1003465" y="1003467"/>
            <a:ext cx="3075710" cy="1068778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араллелограмм 11"/>
          <p:cNvSpPr/>
          <p:nvPr/>
        </p:nvSpPr>
        <p:spPr>
          <a:xfrm>
            <a:off x="451262" y="1"/>
            <a:ext cx="855024" cy="1626920"/>
          </a:xfrm>
          <a:prstGeom prst="parallelogram">
            <a:avLst>
              <a:gd name="adj" fmla="val 66667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Диагональная полоса 12"/>
          <p:cNvSpPr/>
          <p:nvPr/>
        </p:nvSpPr>
        <p:spPr>
          <a:xfrm rot="13694943">
            <a:off x="10159468" y="-1055689"/>
            <a:ext cx="1864426" cy="2113807"/>
          </a:xfrm>
          <a:prstGeom prst="diagStripe">
            <a:avLst>
              <a:gd name="adj" fmla="val 80155"/>
            </a:avLst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Диагональная полоса 13"/>
          <p:cNvSpPr/>
          <p:nvPr/>
        </p:nvSpPr>
        <p:spPr>
          <a:xfrm rot="2175111">
            <a:off x="239764" y="5670282"/>
            <a:ext cx="3232190" cy="2375435"/>
          </a:xfrm>
          <a:prstGeom prst="diagStripe">
            <a:avLst>
              <a:gd name="adj" fmla="val 89159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>
            <a:off x="1757547" y="1875487"/>
            <a:ext cx="9334134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 flipV="1">
            <a:off x="3230880" y="2060448"/>
            <a:ext cx="5875621" cy="24384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Прямоугольник 31"/>
          <p:cNvSpPr/>
          <p:nvPr/>
        </p:nvSpPr>
        <p:spPr>
          <a:xfrm rot="10800000" flipH="1" flipV="1">
            <a:off x="6742177" y="2747698"/>
            <a:ext cx="512064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3600" dirty="0">
                <a:latin typeface="Franklin Gothic Demi Cond" panose="020B0706030402020204" pitchFamily="34" charset="0"/>
              </a:rPr>
              <a:t>Рассказать о его происхождении </a:t>
            </a:r>
            <a:endParaRPr lang="ru-RU" sz="3600" dirty="0">
              <a:latin typeface="Franklin Gothic Demi Cond" panose="020B07060304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1757547" y="1234628"/>
            <a:ext cx="9334134" cy="606456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Задачи:</a:t>
            </a:r>
            <a:endParaRPr lang="ru-RU" dirty="0">
              <a:solidFill>
                <a:schemeClr val="accent4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Объект 7"/>
          <p:cNvSpPr>
            <a:spLocks noGrp="1"/>
          </p:cNvSpPr>
          <p:nvPr>
            <p:ph sz="half" idx="1"/>
          </p:nvPr>
        </p:nvSpPr>
        <p:spPr>
          <a:xfrm>
            <a:off x="878774" y="4240321"/>
            <a:ext cx="5412298" cy="1196172"/>
          </a:xfrm>
        </p:spPr>
        <p:txBody>
          <a:bodyPr>
            <a:normAutofit/>
          </a:bodyPr>
          <a:lstStyle/>
          <a:p>
            <a:endParaRPr lang="ru-RU" sz="2400" dirty="0">
              <a:latin typeface="Franklin Gothic Demi Cond" panose="020B0706030402020204" pitchFamily="34" charset="0"/>
            </a:endParaRPr>
          </a:p>
        </p:txBody>
      </p:sp>
      <p:sp>
        <p:nvSpPr>
          <p:cNvPr id="9" name="Объект 8"/>
          <p:cNvSpPr>
            <a:spLocks noGrp="1"/>
          </p:cNvSpPr>
          <p:nvPr>
            <p:ph sz="half" idx="2"/>
          </p:nvPr>
        </p:nvSpPr>
        <p:spPr>
          <a:xfrm>
            <a:off x="878774" y="2860181"/>
            <a:ext cx="5412298" cy="1149943"/>
          </a:xfrm>
        </p:spPr>
        <p:txBody>
          <a:bodyPr>
            <a:noAutofit/>
          </a:bodyPr>
          <a:lstStyle/>
          <a:p>
            <a:r>
              <a:rPr lang="ru-RU" sz="2400" dirty="0">
                <a:latin typeface="Franklin Gothic Demi Cond" panose="020B0706030402020204" pitchFamily="34" charset="0"/>
              </a:rPr>
              <a:t>расказать о экипировки </a:t>
            </a:r>
            <a:endParaRPr lang="ru-RU" sz="1800" dirty="0">
              <a:latin typeface="Franklin Gothic Demi Cond" panose="020B0706030402020204" pitchFamily="34" charset="0"/>
            </a:endParaRPr>
          </a:p>
        </p:txBody>
      </p:sp>
      <p:sp>
        <p:nvSpPr>
          <p:cNvPr id="10" name="Прямоугольный треугольник 9"/>
          <p:cNvSpPr/>
          <p:nvPr/>
        </p:nvSpPr>
        <p:spPr>
          <a:xfrm rot="5400000">
            <a:off x="-1003465" y="1003467"/>
            <a:ext cx="3075710" cy="1068778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араллелограмм 11"/>
          <p:cNvSpPr/>
          <p:nvPr/>
        </p:nvSpPr>
        <p:spPr>
          <a:xfrm>
            <a:off x="451262" y="1"/>
            <a:ext cx="855024" cy="1626920"/>
          </a:xfrm>
          <a:prstGeom prst="parallelogram">
            <a:avLst>
              <a:gd name="adj" fmla="val 66667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Диагональная полоса 12"/>
          <p:cNvSpPr/>
          <p:nvPr/>
        </p:nvSpPr>
        <p:spPr>
          <a:xfrm rot="13694943">
            <a:off x="10159468" y="-1055689"/>
            <a:ext cx="1864426" cy="2113807"/>
          </a:xfrm>
          <a:prstGeom prst="diagStripe">
            <a:avLst>
              <a:gd name="adj" fmla="val 80155"/>
            </a:avLst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Диагональная полоса 13"/>
          <p:cNvSpPr/>
          <p:nvPr/>
        </p:nvSpPr>
        <p:spPr>
          <a:xfrm rot="2175111">
            <a:off x="239764" y="5670282"/>
            <a:ext cx="3232190" cy="2375435"/>
          </a:xfrm>
          <a:prstGeom prst="diagStripe">
            <a:avLst>
              <a:gd name="adj" fmla="val 89159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>
            <a:off x="1757547" y="1875487"/>
            <a:ext cx="9334134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 flipV="1">
            <a:off x="3230880" y="2060448"/>
            <a:ext cx="5875621" cy="24384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Прямоугольник 31"/>
          <p:cNvSpPr/>
          <p:nvPr/>
        </p:nvSpPr>
        <p:spPr>
          <a:xfrm rot="10800000" flipH="1" flipV="1">
            <a:off x="6669025" y="3548459"/>
            <a:ext cx="512064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Franklin Gothic Demi Cond" panose="020B0706030402020204" pitchFamily="34" charset="0"/>
              </a:rPr>
              <a:t>Показать популярные гонки и легендарные мотоциклы</a:t>
            </a:r>
            <a:endParaRPr lang="ru-RU" sz="2400" dirty="0">
              <a:latin typeface="Franklin Gothic Demi Cond" panose="020B07060304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Franklin Gothic Demi Cond" panose="020B07060304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1757547" y="1269031"/>
            <a:ext cx="9334134" cy="606456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Актуальность:</a:t>
            </a:r>
            <a:endParaRPr lang="ru-RU" dirty="0">
              <a:solidFill>
                <a:schemeClr val="accent4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Объект 7"/>
          <p:cNvSpPr>
            <a:spLocks noGrp="1"/>
          </p:cNvSpPr>
          <p:nvPr>
            <p:ph sz="half" idx="1"/>
          </p:nvPr>
        </p:nvSpPr>
        <p:spPr>
          <a:xfrm>
            <a:off x="6168690" y="2544288"/>
            <a:ext cx="5342185" cy="3247252"/>
          </a:xfrm>
        </p:spPr>
        <p:txBody>
          <a:bodyPr>
            <a:normAutofit/>
          </a:bodyPr>
          <a:lstStyle/>
          <a:p>
            <a:endParaRPr lang="ru-RU" sz="2400" dirty="0">
              <a:latin typeface="Franklin Gothic Demi Cond" panose="020B0706030402020204" pitchFamily="34" charset="0"/>
            </a:endParaRPr>
          </a:p>
        </p:txBody>
      </p:sp>
      <p:sp>
        <p:nvSpPr>
          <p:cNvPr id="9" name="Объект 8"/>
          <p:cNvSpPr>
            <a:spLocks noGrp="1"/>
          </p:cNvSpPr>
          <p:nvPr>
            <p:ph sz="half" idx="2"/>
          </p:nvPr>
        </p:nvSpPr>
        <p:spPr>
          <a:xfrm>
            <a:off x="841722" y="2544288"/>
            <a:ext cx="4778315" cy="3100228"/>
          </a:xfrm>
        </p:spPr>
        <p:txBody>
          <a:bodyPr>
            <a:noAutofit/>
          </a:bodyPr>
          <a:lstStyle/>
          <a:p>
            <a:r>
              <a:rPr lang="ru-RU" sz="2400" dirty="0">
                <a:latin typeface="Franklin Gothic Demi Cond" panose="020B0706030402020204" pitchFamily="34" charset="0"/>
              </a:rPr>
              <a:t>Влияние на молодёжь</a:t>
            </a:r>
            <a:r>
              <a:rPr lang="ru-RU" sz="2400" dirty="0" smtClean="0">
                <a:latin typeface="Franklin Gothic Demi Cond" panose="020B0706030402020204" pitchFamily="34" charset="0"/>
              </a:rPr>
              <a:t>.</a:t>
            </a:r>
            <a:endParaRPr lang="ru-RU" sz="2400" dirty="0" smtClean="0">
              <a:latin typeface="Franklin Gothic Demi Cond" panose="020B0706030402020204" pitchFamily="34" charset="0"/>
            </a:endParaRPr>
          </a:p>
          <a:p>
            <a:pPr marL="0" indent="0">
              <a:buNone/>
            </a:pPr>
            <a:r>
              <a:rPr lang="ru-RU" sz="2400" dirty="0" smtClean="0">
                <a:latin typeface="Franklin Gothic Demi Cond" panose="020B0706030402020204" pitchFamily="34" charset="0"/>
              </a:rPr>
              <a:t>Для </a:t>
            </a:r>
            <a:r>
              <a:rPr lang="ru-RU" sz="2400" dirty="0">
                <a:latin typeface="Franklin Gothic Demi Cond" panose="020B0706030402020204" pitchFamily="34" charset="0"/>
              </a:rPr>
              <a:t>подрастающего поколения интересуещихся эндуро сайты становятся примером для изучение тем занятием которое им нравиться, мотивируют строить карьеру как популярные г</a:t>
            </a:r>
            <a:r>
              <a:rPr lang="en-US" altLang="en-US" sz="2400" dirty="0">
                <a:latin typeface="Franklin Gothic Demi Cond" panose="020B0706030402020204" pitchFamily="34" charset="0"/>
              </a:rPr>
              <a:t>онщики</a:t>
            </a:r>
            <a:r>
              <a:rPr lang="ru-RU" sz="2400" dirty="0">
                <a:latin typeface="Franklin Gothic Demi Cond" panose="020B0706030402020204" pitchFamily="34" charset="0"/>
              </a:rPr>
              <a:t>.</a:t>
            </a:r>
            <a:endParaRPr lang="ru-RU" sz="1800" dirty="0">
              <a:latin typeface="Franklin Gothic Demi Cond" panose="020B0706030402020204" pitchFamily="34" charset="0"/>
            </a:endParaRPr>
          </a:p>
        </p:txBody>
      </p:sp>
      <p:sp>
        <p:nvSpPr>
          <p:cNvPr id="10" name="Прямоугольный треугольник 9"/>
          <p:cNvSpPr/>
          <p:nvPr/>
        </p:nvSpPr>
        <p:spPr>
          <a:xfrm rot="5400000">
            <a:off x="-1003465" y="1003467"/>
            <a:ext cx="3075710" cy="1068778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араллелограмм 11"/>
          <p:cNvSpPr/>
          <p:nvPr/>
        </p:nvSpPr>
        <p:spPr>
          <a:xfrm>
            <a:off x="451262" y="1"/>
            <a:ext cx="855024" cy="1626920"/>
          </a:xfrm>
          <a:prstGeom prst="parallelogram">
            <a:avLst>
              <a:gd name="adj" fmla="val 66667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Диагональная полоса 12"/>
          <p:cNvSpPr/>
          <p:nvPr/>
        </p:nvSpPr>
        <p:spPr>
          <a:xfrm rot="13694943">
            <a:off x="10159468" y="-1055689"/>
            <a:ext cx="1864426" cy="2113807"/>
          </a:xfrm>
          <a:prstGeom prst="diagStripe">
            <a:avLst>
              <a:gd name="adj" fmla="val 80155"/>
            </a:avLst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Диагональная полоса 13"/>
          <p:cNvSpPr/>
          <p:nvPr/>
        </p:nvSpPr>
        <p:spPr>
          <a:xfrm rot="2175111">
            <a:off x="239764" y="5670282"/>
            <a:ext cx="3232190" cy="2375435"/>
          </a:xfrm>
          <a:prstGeom prst="diagStripe">
            <a:avLst>
              <a:gd name="adj" fmla="val 89159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>
            <a:off x="1757547" y="1875487"/>
            <a:ext cx="9334134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 flipV="1">
            <a:off x="3230880" y="2060448"/>
            <a:ext cx="5875621" cy="24384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idx="1"/>
          </p:nvPr>
        </p:nvSpPr>
        <p:spPr>
          <a:xfrm>
            <a:off x="1647818" y="634944"/>
            <a:ext cx="3216788" cy="1089790"/>
          </a:xfrm>
        </p:spPr>
        <p:txBody>
          <a:bodyPr>
            <a:normAutofit/>
          </a:bodyPr>
          <a:lstStyle/>
          <a:p>
            <a:pPr algn="ctr"/>
            <a:r>
              <a:rPr lang="ru-RU" sz="3200" dirty="0" smtClean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Результат от сайта:</a:t>
            </a:r>
            <a:endParaRPr lang="ru-RU" sz="3200" dirty="0" smtClean="0">
              <a:solidFill>
                <a:schemeClr val="accent4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2"/>
          </p:nvPr>
        </p:nvSpPr>
        <p:spPr>
          <a:xfrm>
            <a:off x="1647816" y="2306155"/>
            <a:ext cx="3216789" cy="3741077"/>
          </a:xfrm>
        </p:spPr>
        <p:txBody>
          <a:bodyPr>
            <a:normAutofit/>
          </a:bodyPr>
          <a:lstStyle/>
          <a:p>
            <a:r>
              <a:rPr lang="ru-RU" dirty="0">
                <a:latin typeface="Franklin Gothic Demi Cond" panose="020B0706030402020204" pitchFamily="34" charset="0"/>
              </a:rPr>
              <a:t>Доступ к полезному контенту</a:t>
            </a:r>
            <a:r>
              <a:rPr lang="ru-RU" dirty="0" smtClean="0">
                <a:latin typeface="Franklin Gothic Demi Cond" panose="020B0706030402020204" pitchFamily="34" charset="0"/>
              </a:rPr>
              <a:t>.</a:t>
            </a:r>
            <a:endParaRPr lang="ru-RU" dirty="0" smtClean="0">
              <a:latin typeface="Franklin Gothic Demi Cond" panose="020B0706030402020204" pitchFamily="34" charset="0"/>
            </a:endParaRPr>
          </a:p>
          <a:p>
            <a:r>
              <a:rPr lang="ru-RU" dirty="0">
                <a:latin typeface="Franklin Gothic Demi Cond" panose="020B0706030402020204" pitchFamily="34" charset="0"/>
              </a:rPr>
              <a:t>Удобство и экономия времени</a:t>
            </a:r>
            <a:r>
              <a:rPr lang="ru-RU" dirty="0" smtClean="0">
                <a:latin typeface="Franklin Gothic Demi Cond" panose="020B0706030402020204" pitchFamily="34" charset="0"/>
              </a:rPr>
              <a:t>.</a:t>
            </a:r>
            <a:endParaRPr lang="ru-RU" dirty="0" smtClean="0">
              <a:latin typeface="Franklin Gothic Demi Cond" panose="020B0706030402020204" pitchFamily="34" charset="0"/>
            </a:endParaRPr>
          </a:p>
          <a:p>
            <a:r>
              <a:rPr lang="ru-RU" dirty="0">
                <a:latin typeface="Franklin Gothic Demi Cond" panose="020B0706030402020204" pitchFamily="34" charset="0"/>
              </a:rPr>
              <a:t>Мотивация </a:t>
            </a:r>
            <a:endParaRPr lang="ru-RU" dirty="0">
              <a:latin typeface="Franklin Gothic Demi Cond" panose="020B0706030402020204" pitchFamily="34" charset="0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3"/>
          </p:nvPr>
        </p:nvSpPr>
        <p:spPr>
          <a:xfrm>
            <a:off x="6812971" y="743970"/>
            <a:ext cx="4386071" cy="946457"/>
          </a:xfrm>
        </p:spPr>
        <p:txBody>
          <a:bodyPr>
            <a:normAutofit lnSpcReduction="10000"/>
          </a:bodyPr>
          <a:lstStyle/>
          <a:p>
            <a:pPr algn="ctr"/>
            <a:r>
              <a:rPr lang="ru-RU" sz="3200" dirty="0" smtClean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Целевая аудитория: </a:t>
            </a:r>
            <a:endParaRPr lang="ru-RU" sz="3200" dirty="0">
              <a:solidFill>
                <a:schemeClr val="accent4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sz="quarter" idx="4"/>
          </p:nvPr>
        </p:nvSpPr>
        <p:spPr>
          <a:xfrm>
            <a:off x="7214626" y="2147659"/>
            <a:ext cx="3541921" cy="3899573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Franklin Gothic Demi Cond" panose="020B0706030402020204" pitchFamily="34" charset="0"/>
                <a:cs typeface="Franklin Gothic Demi Cond" panose="020B0706030402020204" pitchFamily="34" charset="0"/>
              </a:rPr>
              <a:t>Кто интересуется данной темой</a:t>
            </a:r>
            <a:endParaRPr lang="ru-RU" dirty="0">
              <a:latin typeface="Franklin Gothic Demi Cond" panose="020B0706030402020204" pitchFamily="34" charset="0"/>
              <a:cs typeface="Franklin Gothic Demi Cond" panose="020B0706030402020204" pitchFamily="34" charset="0"/>
            </a:endParaRPr>
          </a:p>
          <a:p>
            <a:r>
              <a:rPr lang="ru-RU" dirty="0">
                <a:latin typeface="Franklin Gothic Demi Cond" panose="020B0706030402020204" pitchFamily="34" charset="0"/>
                <a:cs typeface="Franklin Gothic Demi Cond" panose="020B0706030402020204" pitchFamily="34" charset="0"/>
              </a:rPr>
              <a:t> Регулярно </a:t>
            </a:r>
            <a:r>
              <a:rPr lang="ru-RU" dirty="0" smtClean="0">
                <a:latin typeface="Franklin Gothic Demi Cond" panose="020B0706030402020204" pitchFamily="34" charset="0"/>
                <a:cs typeface="Franklin Gothic Demi Cond" panose="020B0706030402020204" pitchFamily="34" charset="0"/>
              </a:rPr>
              <a:t>тренирующиеся</a:t>
            </a:r>
            <a:endParaRPr lang="ru-RU" dirty="0" smtClean="0">
              <a:latin typeface="Franklin Gothic Demi Cond" panose="020B0706030402020204" pitchFamily="34" charset="0"/>
              <a:cs typeface="Franklin Gothic Demi Cond" panose="020B0706030402020204" pitchFamily="34" charset="0"/>
            </a:endParaRPr>
          </a:p>
          <a:p>
            <a:r>
              <a:rPr lang="ru-RU" dirty="0">
                <a:latin typeface="Franklin Gothic Demi Cond" panose="020B0706030402020204" pitchFamily="34" charset="0"/>
                <a:cs typeface="Franklin Gothic Demi Cond" panose="020B0706030402020204" pitchFamily="34" charset="0"/>
              </a:rPr>
              <a:t>спортсмены </a:t>
            </a:r>
            <a:endParaRPr lang="ru-RU" dirty="0" smtClean="0">
              <a:latin typeface="Franklin Gothic Demi Cond" panose="020B0706030402020204" pitchFamily="34" charset="0"/>
              <a:cs typeface="Franklin Gothic Demi Cond" panose="020B0706030402020204" pitchFamily="34" charset="0"/>
            </a:endParaRPr>
          </a:p>
          <a:p>
            <a:r>
              <a:rPr lang="ru-RU" dirty="0">
                <a:latin typeface="Franklin Gothic Demi Cond" panose="020B0706030402020204" pitchFamily="34" charset="0"/>
                <a:cs typeface="Franklin Gothic Demi Cond" panose="020B0706030402020204" pitchFamily="34" charset="0"/>
              </a:rPr>
              <a:t> Любители мото техники</a:t>
            </a:r>
            <a:endParaRPr lang="ru-RU" dirty="0" smtClean="0">
              <a:latin typeface="Franklin Gothic Demi Cond" panose="020B0706030402020204" pitchFamily="34" charset="0"/>
              <a:cs typeface="Franklin Gothic Demi Cond" panose="020B0706030402020204" pitchFamily="34" charset="0"/>
            </a:endParaRPr>
          </a:p>
          <a:p>
            <a:r>
              <a:rPr lang="ru-RU" dirty="0">
                <a:latin typeface="Franklin Gothic Demi Cond" panose="020B0706030402020204" pitchFamily="34" charset="0"/>
                <a:cs typeface="Franklin Gothic Demi Cond" panose="020B0706030402020204" pitchFamily="34" charset="0"/>
              </a:rPr>
              <a:t>Любая возростная категория</a:t>
            </a:r>
            <a:endParaRPr lang="ru-RU" dirty="0">
              <a:latin typeface="Franklin Gothic Demi Cond" panose="020B0706030402020204" pitchFamily="34" charset="0"/>
              <a:cs typeface="Franklin Gothic Demi Cond" panose="020B0706030402020204" pitchFamily="34" charset="0"/>
            </a:endParaRPr>
          </a:p>
        </p:txBody>
      </p:sp>
      <p:sp>
        <p:nvSpPr>
          <p:cNvPr id="10" name="Прямоугольный треугольник 9"/>
          <p:cNvSpPr/>
          <p:nvPr/>
        </p:nvSpPr>
        <p:spPr>
          <a:xfrm rot="5400000">
            <a:off x="-1003465" y="1003467"/>
            <a:ext cx="3075710" cy="1068778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араллелограмм 11"/>
          <p:cNvSpPr/>
          <p:nvPr/>
        </p:nvSpPr>
        <p:spPr>
          <a:xfrm>
            <a:off x="451262" y="1"/>
            <a:ext cx="855024" cy="1626920"/>
          </a:xfrm>
          <a:prstGeom prst="parallelogram">
            <a:avLst>
              <a:gd name="adj" fmla="val 66667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Диагональная полоса 12"/>
          <p:cNvSpPr/>
          <p:nvPr/>
        </p:nvSpPr>
        <p:spPr>
          <a:xfrm rot="13694943">
            <a:off x="10159468" y="-1055689"/>
            <a:ext cx="1864426" cy="2113807"/>
          </a:xfrm>
          <a:prstGeom prst="diagStripe">
            <a:avLst>
              <a:gd name="adj" fmla="val 80155"/>
            </a:avLst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Диагональная полоса 13"/>
          <p:cNvSpPr/>
          <p:nvPr/>
        </p:nvSpPr>
        <p:spPr>
          <a:xfrm rot="2175111">
            <a:off x="239764" y="5670282"/>
            <a:ext cx="3232190" cy="2375435"/>
          </a:xfrm>
          <a:prstGeom prst="diagStripe">
            <a:avLst>
              <a:gd name="adj" fmla="val 89159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>
            <a:off x="1647817" y="1712073"/>
            <a:ext cx="3216789" cy="2081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2439823" y="1866892"/>
            <a:ext cx="1632779" cy="6096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7255465" y="1712638"/>
            <a:ext cx="3501082" cy="1516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 flipV="1">
            <a:off x="8145116" y="1866892"/>
            <a:ext cx="1721780" cy="2590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6242304" y="1633728"/>
            <a:ext cx="5279136" cy="2755392"/>
          </a:xfrm>
        </p:spPr>
        <p:txBody>
          <a:bodyPr>
            <a:normAutofit/>
          </a:bodyPr>
          <a:lstStyle/>
          <a:p>
            <a:pPr algn="ctr"/>
            <a:r>
              <a:rPr lang="ru-RU" sz="6000" dirty="0" smtClean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Спасибо за внимание!</a:t>
            </a:r>
            <a:endParaRPr lang="ru-RU" sz="6000" dirty="0">
              <a:solidFill>
                <a:schemeClr val="accent4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Параллелограмм 5"/>
          <p:cNvSpPr/>
          <p:nvPr/>
        </p:nvSpPr>
        <p:spPr>
          <a:xfrm>
            <a:off x="0" y="0"/>
            <a:ext cx="5536276" cy="6858000"/>
          </a:xfrm>
          <a:prstGeom prst="parallelogram">
            <a:avLst>
              <a:gd name="adj" fmla="val 29458"/>
            </a:avLst>
          </a:prstGeom>
          <a:blipFill rotWithShape="1">
            <a:blip r:embed="rId1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ый треугольник 7"/>
          <p:cNvSpPr/>
          <p:nvPr/>
        </p:nvSpPr>
        <p:spPr>
          <a:xfrm rot="10800000" flipH="1">
            <a:off x="0" y="0"/>
            <a:ext cx="1633728" cy="6858000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ый треугольник 8"/>
          <p:cNvSpPr/>
          <p:nvPr/>
        </p:nvSpPr>
        <p:spPr>
          <a:xfrm flipH="1">
            <a:off x="3901440" y="0"/>
            <a:ext cx="1634836" cy="6858000"/>
          </a:xfrm>
          <a:prstGeom prst="rtTriangl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Другая 1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600</Words>
  <Application>WPS Presentation</Application>
  <PresentationFormat>Широкоэкранный</PresentationFormat>
  <Paragraphs>36</Paragraphs>
  <Slides>6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SimSun</vt:lpstr>
      <vt:lpstr>Wingdings</vt:lpstr>
      <vt:lpstr>Arial Black</vt:lpstr>
      <vt:lpstr>Franklin Gothic Demi Cond</vt:lpstr>
      <vt:lpstr>Yu Gothic UI Semibold</vt:lpstr>
      <vt:lpstr>Calibri</vt:lpstr>
      <vt:lpstr>Microsoft YaHei</vt:lpstr>
      <vt:lpstr>Arial Unicode MS</vt:lpstr>
      <vt:lpstr>Calibri Light</vt:lpstr>
      <vt:lpstr>Office Theme</vt:lpstr>
      <vt:lpstr>Спорт зал Fitness Club</vt:lpstr>
      <vt:lpstr>Цели:</vt:lpstr>
      <vt:lpstr>Задачи:</vt:lpstr>
      <vt:lpstr>Актуальность:</vt:lpstr>
      <vt:lpstr>PowerPoint 演示文稿</vt:lpstr>
      <vt:lpstr>Спасибо за внимание!</vt:lpstr>
    </vt:vector>
  </TitlesOfParts>
  <Company>diakov.net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RePack by Diakov</dc:creator>
  <cp:lastModifiedBy>user</cp:lastModifiedBy>
  <cp:revision>16</cp:revision>
  <dcterms:created xsi:type="dcterms:W3CDTF">2026-05-12T10:20:00Z</dcterms:created>
  <dcterms:modified xsi:type="dcterms:W3CDTF">2026-05-13T06:02:16Z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1A94E5DA06A643FCBC050530DAA90DEC_13</vt:lpwstr>
  </property>
  <property fmtid="{D5CDD505-2E9C-101B-9397-08002B2CF9AE}" pid="3" name="KSOProductBuildVer">
    <vt:lpwstr>1049-12.2.0.23202</vt:lpwstr>
  </property>
</Properties>
</file>